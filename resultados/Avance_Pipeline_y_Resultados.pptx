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Verdana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Verdana"/>
              </a:rPr>
              <a:t>Video de ejemplo (50 min): calor real y clips elegidos</a:t>
            </a:r>
          </a:p>
        </c:rich>
      </c:tx>
      <c:layout/>
      <c:overlay val="0"/>
    </c:title>
    <c:autoTitleDeleted val="0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Calor real (Most Replayed)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Sheet1!$A$2:$A$101</c:f>
              <c:multiLvlStrCache>
                <c:ptCount val="100"/>
                <c:lvl>
                  <c:pt idx="0">
                    <c:v>0</c:v>
                  </c:pt>
                  <c:pt idx="1">
                    <c:v>0</c:v>
                  </c:pt>
                  <c:pt idx="2">
                    <c:v>1</c:v>
                  </c:pt>
                  <c:pt idx="3">
                    <c:v>1</c:v>
                  </c:pt>
                  <c:pt idx="4">
                    <c:v>2</c:v>
                  </c:pt>
                  <c:pt idx="5">
                    <c:v>2</c:v>
                  </c:pt>
                  <c:pt idx="6">
                    <c:v>3</c:v>
                  </c:pt>
                  <c:pt idx="7">
                    <c:v>3</c:v>
                  </c:pt>
                  <c:pt idx="8">
                    <c:v>4</c:v>
                  </c:pt>
                  <c:pt idx="9">
                    <c:v>4</c:v>
                  </c:pt>
                  <c:pt idx="10">
                    <c:v>5</c:v>
                  </c:pt>
                  <c:pt idx="11">
                    <c:v>5</c:v>
                  </c:pt>
                  <c:pt idx="12">
                    <c:v>6</c:v>
                  </c:pt>
                  <c:pt idx="13">
                    <c:v>6</c:v>
                  </c:pt>
                  <c:pt idx="14">
                    <c:v>7</c:v>
                  </c:pt>
                  <c:pt idx="15">
                    <c:v>7</c:v>
                  </c:pt>
                  <c:pt idx="16">
                    <c:v>8</c:v>
                  </c:pt>
                  <c:pt idx="17">
                    <c:v>8</c:v>
                  </c:pt>
                  <c:pt idx="18">
                    <c:v>9</c:v>
                  </c:pt>
                  <c:pt idx="19">
                    <c:v>9</c:v>
                  </c:pt>
                  <c:pt idx="20">
                    <c:v>10</c:v>
                  </c:pt>
                  <c:pt idx="21">
                    <c:v>10</c:v>
                  </c:pt>
                  <c:pt idx="22">
                    <c:v>11</c:v>
                  </c:pt>
                  <c:pt idx="23">
                    <c:v>11</c:v>
                  </c:pt>
                  <c:pt idx="24">
                    <c:v>12</c:v>
                  </c:pt>
                  <c:pt idx="25">
                    <c:v>12</c:v>
                  </c:pt>
                  <c:pt idx="26">
                    <c:v>13</c:v>
                  </c:pt>
                  <c:pt idx="27">
                    <c:v>13</c:v>
                  </c:pt>
                  <c:pt idx="28">
                    <c:v>14</c:v>
                  </c:pt>
                  <c:pt idx="29">
                    <c:v>14</c:v>
                  </c:pt>
                  <c:pt idx="30">
                    <c:v>15</c:v>
                  </c:pt>
                  <c:pt idx="31">
                    <c:v>15</c:v>
                  </c:pt>
                  <c:pt idx="32">
                    <c:v>16</c:v>
                  </c:pt>
                  <c:pt idx="33">
                    <c:v>16</c:v>
                  </c:pt>
                  <c:pt idx="34">
                    <c:v>17</c:v>
                  </c:pt>
                  <c:pt idx="35">
                    <c:v>17</c:v>
                  </c:pt>
                  <c:pt idx="36">
                    <c:v>18</c:v>
                  </c:pt>
                  <c:pt idx="37">
                    <c:v>18</c:v>
                  </c:pt>
                  <c:pt idx="38">
                    <c:v>19</c:v>
                  </c:pt>
                  <c:pt idx="39">
                    <c:v>19</c:v>
                  </c:pt>
                  <c:pt idx="40">
                    <c:v>20</c:v>
                  </c:pt>
                  <c:pt idx="41">
                    <c:v>20</c:v>
                  </c:pt>
                  <c:pt idx="42">
                    <c:v>21</c:v>
                  </c:pt>
                  <c:pt idx="43">
                    <c:v>21</c:v>
                  </c:pt>
                  <c:pt idx="44">
                    <c:v>22</c:v>
                  </c:pt>
                  <c:pt idx="45">
                    <c:v>22</c:v>
                  </c:pt>
                  <c:pt idx="46">
                    <c:v>23</c:v>
                  </c:pt>
                  <c:pt idx="47">
                    <c:v>23</c:v>
                  </c:pt>
                  <c:pt idx="48">
                    <c:v>24</c:v>
                  </c:pt>
                  <c:pt idx="49">
                    <c:v>25</c:v>
                  </c:pt>
                  <c:pt idx="50">
                    <c:v>25</c:v>
                  </c:pt>
                  <c:pt idx="51">
                    <c:v>26</c:v>
                  </c:pt>
                  <c:pt idx="52">
                    <c:v>26</c:v>
                  </c:pt>
                  <c:pt idx="53">
                    <c:v>27</c:v>
                  </c:pt>
                  <c:pt idx="54">
                    <c:v>27</c:v>
                  </c:pt>
                  <c:pt idx="55">
                    <c:v>28</c:v>
                  </c:pt>
                  <c:pt idx="56">
                    <c:v>28</c:v>
                  </c:pt>
                  <c:pt idx="57">
                    <c:v>29</c:v>
                  </c:pt>
                  <c:pt idx="58">
                    <c:v>29</c:v>
                  </c:pt>
                  <c:pt idx="59">
                    <c:v>30</c:v>
                  </c:pt>
                  <c:pt idx="60">
                    <c:v>30</c:v>
                  </c:pt>
                  <c:pt idx="61">
                    <c:v>31</c:v>
                  </c:pt>
                  <c:pt idx="62">
                    <c:v>31</c:v>
                  </c:pt>
                  <c:pt idx="63">
                    <c:v>32</c:v>
                  </c:pt>
                  <c:pt idx="64">
                    <c:v>32</c:v>
                  </c:pt>
                  <c:pt idx="65">
                    <c:v>33</c:v>
                  </c:pt>
                  <c:pt idx="66">
                    <c:v>33</c:v>
                  </c:pt>
                  <c:pt idx="67">
                    <c:v>34</c:v>
                  </c:pt>
                  <c:pt idx="68">
                    <c:v>34</c:v>
                  </c:pt>
                  <c:pt idx="69">
                    <c:v>35</c:v>
                  </c:pt>
                  <c:pt idx="70">
                    <c:v>35</c:v>
                  </c:pt>
                  <c:pt idx="71">
                    <c:v>36</c:v>
                  </c:pt>
                  <c:pt idx="72">
                    <c:v>36</c:v>
                  </c:pt>
                  <c:pt idx="73">
                    <c:v>37</c:v>
                  </c:pt>
                  <c:pt idx="74">
                    <c:v>37</c:v>
                  </c:pt>
                  <c:pt idx="75">
                    <c:v>38</c:v>
                  </c:pt>
                  <c:pt idx="76">
                    <c:v>38</c:v>
                  </c:pt>
                  <c:pt idx="77">
                    <c:v>39</c:v>
                  </c:pt>
                  <c:pt idx="78">
                    <c:v>39</c:v>
                  </c:pt>
                  <c:pt idx="79">
                    <c:v>40</c:v>
                  </c:pt>
                  <c:pt idx="80">
                    <c:v>40</c:v>
                  </c:pt>
                  <c:pt idx="81">
                    <c:v>41</c:v>
                  </c:pt>
                  <c:pt idx="82">
                    <c:v>41</c:v>
                  </c:pt>
                  <c:pt idx="83">
                    <c:v>42</c:v>
                  </c:pt>
                  <c:pt idx="84">
                    <c:v>42</c:v>
                  </c:pt>
                  <c:pt idx="85">
                    <c:v>43</c:v>
                  </c:pt>
                  <c:pt idx="86">
                    <c:v>43</c:v>
                  </c:pt>
                  <c:pt idx="87">
                    <c:v>44</c:v>
                  </c:pt>
                  <c:pt idx="88">
                    <c:v>44</c:v>
                  </c:pt>
                  <c:pt idx="89">
                    <c:v>45</c:v>
                  </c:pt>
                  <c:pt idx="90">
                    <c:v>45</c:v>
                  </c:pt>
                  <c:pt idx="91">
                    <c:v>46</c:v>
                  </c:pt>
                  <c:pt idx="92">
                    <c:v>46</c:v>
                  </c:pt>
                  <c:pt idx="93">
                    <c:v>47</c:v>
                  </c:pt>
                  <c:pt idx="94">
                    <c:v>47</c:v>
                  </c:pt>
                  <c:pt idx="95">
                    <c:v>48</c:v>
                  </c:pt>
                  <c:pt idx="96">
                    <c:v>48</c:v>
                  </c:pt>
                  <c:pt idx="97">
                    <c:v>49</c:v>
                  </c:pt>
                  <c:pt idx="98">
                    <c:v>49</c:v>
                  </c:pt>
                  <c:pt idx="99">
                    <c:v>50</c:v>
                  </c:pt>
                </c:lvl>
              </c:multiLvlStrCache>
            </c:multiLvlStrRef>
          </c:cat>
          <c:val>
            <c:numRef>
              <c:f>Sheet1!$B$2:$B$101</c:f>
              <c:numCache>
                <c:formatCode>General</c:formatCode>
                <c:ptCount val="100"/>
                <c:pt idx="0">
                  <c:v>0.112</c:v>
                </c:pt>
                <c:pt idx="1">
                  <c:v>0.112</c:v>
                </c:pt>
                <c:pt idx="2">
                  <c:v>0.103</c:v>
                </c:pt>
                <c:pt idx="3">
                  <c:v>0.075</c:v>
                </c:pt>
                <c:pt idx="4">
                  <c:v>0.099</c:v>
                </c:pt>
                <c:pt idx="5">
                  <c:v>0.206</c:v>
                </c:pt>
                <c:pt idx="6">
                  <c:v>0.191</c:v>
                </c:pt>
                <c:pt idx="7">
                  <c:v>0.131</c:v>
                </c:pt>
                <c:pt idx="8">
                  <c:v>0.126</c:v>
                </c:pt>
                <c:pt idx="9">
                  <c:v>0.967</c:v>
                </c:pt>
                <c:pt idx="10">
                  <c:v>0.286</c:v>
                </c:pt>
                <c:pt idx="11">
                  <c:v>0.261</c:v>
                </c:pt>
                <c:pt idx="12">
                  <c:v>0.248</c:v>
                </c:pt>
                <c:pt idx="13">
                  <c:v>0.232</c:v>
                </c:pt>
                <c:pt idx="14">
                  <c:v>0.238</c:v>
                </c:pt>
                <c:pt idx="15">
                  <c:v>0.226</c:v>
                </c:pt>
                <c:pt idx="16">
                  <c:v>0.227</c:v>
                </c:pt>
                <c:pt idx="17">
                  <c:v>0.74</c:v>
                </c:pt>
                <c:pt idx="18">
                  <c:v>0.213</c:v>
                </c:pt>
                <c:pt idx="19">
                  <c:v>0.221</c:v>
                </c:pt>
                <c:pt idx="20">
                  <c:v>0.242</c:v>
                </c:pt>
                <c:pt idx="21">
                  <c:v>0.337</c:v>
                </c:pt>
                <c:pt idx="22">
                  <c:v>0.351</c:v>
                </c:pt>
                <c:pt idx="23">
                  <c:v>0.262</c:v>
                </c:pt>
                <c:pt idx="24">
                  <c:v>0.188</c:v>
                </c:pt>
                <c:pt idx="25">
                  <c:v>0.354</c:v>
                </c:pt>
                <c:pt idx="26">
                  <c:v>0.572</c:v>
                </c:pt>
                <c:pt idx="27">
                  <c:v>0.174</c:v>
                </c:pt>
                <c:pt idx="28">
                  <c:v>0.177</c:v>
                </c:pt>
                <c:pt idx="29">
                  <c:v>0.182</c:v>
                </c:pt>
                <c:pt idx="30">
                  <c:v>0.444</c:v>
                </c:pt>
                <c:pt idx="31">
                  <c:v>0.295</c:v>
                </c:pt>
                <c:pt idx="32">
                  <c:v>0.2</c:v>
                </c:pt>
                <c:pt idx="33">
                  <c:v>0.273</c:v>
                </c:pt>
                <c:pt idx="34">
                  <c:v>0.556</c:v>
                </c:pt>
                <c:pt idx="35">
                  <c:v>0.166</c:v>
                </c:pt>
                <c:pt idx="36">
                  <c:v>0.146</c:v>
                </c:pt>
                <c:pt idx="37">
                  <c:v>0.141</c:v>
                </c:pt>
                <c:pt idx="38">
                  <c:v>0.151</c:v>
                </c:pt>
                <c:pt idx="39">
                  <c:v>0.159</c:v>
                </c:pt>
                <c:pt idx="40">
                  <c:v>0.187</c:v>
                </c:pt>
                <c:pt idx="41">
                  <c:v>0.833</c:v>
                </c:pt>
                <c:pt idx="42">
                  <c:v>0.184</c:v>
                </c:pt>
                <c:pt idx="43">
                  <c:v>0.189</c:v>
                </c:pt>
                <c:pt idx="44">
                  <c:v>0.169</c:v>
                </c:pt>
                <c:pt idx="45">
                  <c:v>0.162</c:v>
                </c:pt>
                <c:pt idx="46">
                  <c:v>0.539</c:v>
                </c:pt>
                <c:pt idx="47">
                  <c:v>0.155</c:v>
                </c:pt>
                <c:pt idx="48">
                  <c:v>0.14</c:v>
                </c:pt>
                <c:pt idx="49">
                  <c:v>0.153</c:v>
                </c:pt>
                <c:pt idx="50">
                  <c:v>0.142</c:v>
                </c:pt>
                <c:pt idx="51">
                  <c:v>0.158</c:v>
                </c:pt>
                <c:pt idx="52">
                  <c:v>0.274</c:v>
                </c:pt>
                <c:pt idx="53">
                  <c:v>0.149</c:v>
                </c:pt>
                <c:pt idx="54">
                  <c:v>0.141</c:v>
                </c:pt>
                <c:pt idx="55">
                  <c:v>0.151</c:v>
                </c:pt>
                <c:pt idx="56">
                  <c:v>0.16</c:v>
                </c:pt>
                <c:pt idx="57">
                  <c:v>0.184</c:v>
                </c:pt>
                <c:pt idx="58">
                  <c:v>0.207</c:v>
                </c:pt>
                <c:pt idx="59">
                  <c:v>1</c:v>
                </c:pt>
                <c:pt idx="60">
                  <c:v>0.164</c:v>
                </c:pt>
                <c:pt idx="61">
                  <c:v>0.155</c:v>
                </c:pt>
                <c:pt idx="62">
                  <c:v>0.146</c:v>
                </c:pt>
                <c:pt idx="63">
                  <c:v>0.144</c:v>
                </c:pt>
                <c:pt idx="64">
                  <c:v>0.179</c:v>
                </c:pt>
                <c:pt idx="65">
                  <c:v>0.193</c:v>
                </c:pt>
                <c:pt idx="66">
                  <c:v>0.186</c:v>
                </c:pt>
                <c:pt idx="67">
                  <c:v>0.164</c:v>
                </c:pt>
                <c:pt idx="68">
                  <c:v>0.128</c:v>
                </c:pt>
                <c:pt idx="69">
                  <c:v>0.744</c:v>
                </c:pt>
                <c:pt idx="70">
                  <c:v>0.084</c:v>
                </c:pt>
                <c:pt idx="71">
                  <c:v>0.086</c:v>
                </c:pt>
                <c:pt idx="72">
                  <c:v>0.097</c:v>
                </c:pt>
                <c:pt idx="73">
                  <c:v>0.13</c:v>
                </c:pt>
                <c:pt idx="74">
                  <c:v>0.224</c:v>
                </c:pt>
                <c:pt idx="75">
                  <c:v>0.113</c:v>
                </c:pt>
                <c:pt idx="76">
                  <c:v>0.097</c:v>
                </c:pt>
                <c:pt idx="77">
                  <c:v>0.098</c:v>
                </c:pt>
                <c:pt idx="78">
                  <c:v>0.096</c:v>
                </c:pt>
                <c:pt idx="79">
                  <c:v>0.652</c:v>
                </c:pt>
                <c:pt idx="80">
                  <c:v>0.081</c:v>
                </c:pt>
                <c:pt idx="81">
                  <c:v>0.093</c:v>
                </c:pt>
                <c:pt idx="82">
                  <c:v>0.115</c:v>
                </c:pt>
                <c:pt idx="83">
                  <c:v>0.107</c:v>
                </c:pt>
                <c:pt idx="84">
                  <c:v>0.067</c:v>
                </c:pt>
                <c:pt idx="85">
                  <c:v>0.06</c:v>
                </c:pt>
                <c:pt idx="86">
                  <c:v>0.063</c:v>
                </c:pt>
                <c:pt idx="87">
                  <c:v>0.041</c:v>
                </c:pt>
                <c:pt idx="88">
                  <c:v>0.812</c:v>
                </c:pt>
                <c:pt idx="89">
                  <c:v>0.084</c:v>
                </c:pt>
                <c:pt idx="90">
                  <c:v>0.055</c:v>
                </c:pt>
                <c:pt idx="91">
                  <c:v>0.042</c:v>
                </c:pt>
                <c:pt idx="92">
                  <c:v>0.046</c:v>
                </c:pt>
                <c:pt idx="93">
                  <c:v>0.063</c:v>
                </c:pt>
                <c:pt idx="94">
                  <c:v>0.041</c:v>
                </c:pt>
                <c:pt idx="95">
                  <c:v>0.051</c:v>
                </c:pt>
                <c:pt idx="96">
                  <c:v>0.04</c:v>
                </c:pt>
                <c:pt idx="97">
                  <c:v>0.019</c:v>
                </c:pt>
                <c:pt idx="98">
                  <c:v>0.001</c:v>
                </c:pt>
                <c:pt idx="9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Clips elegidos por el sistema</c:v>
                </c:pt>
              </c:strCache>
            </c:strRef>
          </c:tx>
          <c:spPr>
            <a:solidFill>
              <a:srgbClr val="FF471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Sheet1!$A$2:$A$101</c:f>
              <c:multiLvlStrCache>
                <c:ptCount val="100"/>
                <c:lvl>
                  <c:pt idx="0">
                    <c:v>0</c:v>
                  </c:pt>
                  <c:pt idx="1">
                    <c:v>0</c:v>
                  </c:pt>
                  <c:pt idx="2">
                    <c:v>1</c:v>
                  </c:pt>
                  <c:pt idx="3">
                    <c:v>1</c:v>
                  </c:pt>
                  <c:pt idx="4">
                    <c:v>2</c:v>
                  </c:pt>
                  <c:pt idx="5">
                    <c:v>2</c:v>
                  </c:pt>
                  <c:pt idx="6">
                    <c:v>3</c:v>
                  </c:pt>
                  <c:pt idx="7">
                    <c:v>3</c:v>
                  </c:pt>
                  <c:pt idx="8">
                    <c:v>4</c:v>
                  </c:pt>
                  <c:pt idx="9">
                    <c:v>4</c:v>
                  </c:pt>
                  <c:pt idx="10">
                    <c:v>5</c:v>
                  </c:pt>
                  <c:pt idx="11">
                    <c:v>5</c:v>
                  </c:pt>
                  <c:pt idx="12">
                    <c:v>6</c:v>
                  </c:pt>
                  <c:pt idx="13">
                    <c:v>6</c:v>
                  </c:pt>
                  <c:pt idx="14">
                    <c:v>7</c:v>
                  </c:pt>
                  <c:pt idx="15">
                    <c:v>7</c:v>
                  </c:pt>
                  <c:pt idx="16">
                    <c:v>8</c:v>
                  </c:pt>
                  <c:pt idx="17">
                    <c:v>8</c:v>
                  </c:pt>
                  <c:pt idx="18">
                    <c:v>9</c:v>
                  </c:pt>
                  <c:pt idx="19">
                    <c:v>9</c:v>
                  </c:pt>
                  <c:pt idx="20">
                    <c:v>10</c:v>
                  </c:pt>
                  <c:pt idx="21">
                    <c:v>10</c:v>
                  </c:pt>
                  <c:pt idx="22">
                    <c:v>11</c:v>
                  </c:pt>
                  <c:pt idx="23">
                    <c:v>11</c:v>
                  </c:pt>
                  <c:pt idx="24">
                    <c:v>12</c:v>
                  </c:pt>
                  <c:pt idx="25">
                    <c:v>12</c:v>
                  </c:pt>
                  <c:pt idx="26">
                    <c:v>13</c:v>
                  </c:pt>
                  <c:pt idx="27">
                    <c:v>13</c:v>
                  </c:pt>
                  <c:pt idx="28">
                    <c:v>14</c:v>
                  </c:pt>
                  <c:pt idx="29">
                    <c:v>14</c:v>
                  </c:pt>
                  <c:pt idx="30">
                    <c:v>15</c:v>
                  </c:pt>
                  <c:pt idx="31">
                    <c:v>15</c:v>
                  </c:pt>
                  <c:pt idx="32">
                    <c:v>16</c:v>
                  </c:pt>
                  <c:pt idx="33">
                    <c:v>16</c:v>
                  </c:pt>
                  <c:pt idx="34">
                    <c:v>17</c:v>
                  </c:pt>
                  <c:pt idx="35">
                    <c:v>17</c:v>
                  </c:pt>
                  <c:pt idx="36">
                    <c:v>18</c:v>
                  </c:pt>
                  <c:pt idx="37">
                    <c:v>18</c:v>
                  </c:pt>
                  <c:pt idx="38">
                    <c:v>19</c:v>
                  </c:pt>
                  <c:pt idx="39">
                    <c:v>19</c:v>
                  </c:pt>
                  <c:pt idx="40">
                    <c:v>20</c:v>
                  </c:pt>
                  <c:pt idx="41">
                    <c:v>20</c:v>
                  </c:pt>
                  <c:pt idx="42">
                    <c:v>21</c:v>
                  </c:pt>
                  <c:pt idx="43">
                    <c:v>21</c:v>
                  </c:pt>
                  <c:pt idx="44">
                    <c:v>22</c:v>
                  </c:pt>
                  <c:pt idx="45">
                    <c:v>22</c:v>
                  </c:pt>
                  <c:pt idx="46">
                    <c:v>23</c:v>
                  </c:pt>
                  <c:pt idx="47">
                    <c:v>23</c:v>
                  </c:pt>
                  <c:pt idx="48">
                    <c:v>24</c:v>
                  </c:pt>
                  <c:pt idx="49">
                    <c:v>25</c:v>
                  </c:pt>
                  <c:pt idx="50">
                    <c:v>25</c:v>
                  </c:pt>
                  <c:pt idx="51">
                    <c:v>26</c:v>
                  </c:pt>
                  <c:pt idx="52">
                    <c:v>26</c:v>
                  </c:pt>
                  <c:pt idx="53">
                    <c:v>27</c:v>
                  </c:pt>
                  <c:pt idx="54">
                    <c:v>27</c:v>
                  </c:pt>
                  <c:pt idx="55">
                    <c:v>28</c:v>
                  </c:pt>
                  <c:pt idx="56">
                    <c:v>28</c:v>
                  </c:pt>
                  <c:pt idx="57">
                    <c:v>29</c:v>
                  </c:pt>
                  <c:pt idx="58">
                    <c:v>29</c:v>
                  </c:pt>
                  <c:pt idx="59">
                    <c:v>30</c:v>
                  </c:pt>
                  <c:pt idx="60">
                    <c:v>30</c:v>
                  </c:pt>
                  <c:pt idx="61">
                    <c:v>31</c:v>
                  </c:pt>
                  <c:pt idx="62">
                    <c:v>31</c:v>
                  </c:pt>
                  <c:pt idx="63">
                    <c:v>32</c:v>
                  </c:pt>
                  <c:pt idx="64">
                    <c:v>32</c:v>
                  </c:pt>
                  <c:pt idx="65">
                    <c:v>33</c:v>
                  </c:pt>
                  <c:pt idx="66">
                    <c:v>33</c:v>
                  </c:pt>
                  <c:pt idx="67">
                    <c:v>34</c:v>
                  </c:pt>
                  <c:pt idx="68">
                    <c:v>34</c:v>
                  </c:pt>
                  <c:pt idx="69">
                    <c:v>35</c:v>
                  </c:pt>
                  <c:pt idx="70">
                    <c:v>35</c:v>
                  </c:pt>
                  <c:pt idx="71">
                    <c:v>36</c:v>
                  </c:pt>
                  <c:pt idx="72">
                    <c:v>36</c:v>
                  </c:pt>
                  <c:pt idx="73">
                    <c:v>37</c:v>
                  </c:pt>
                  <c:pt idx="74">
                    <c:v>37</c:v>
                  </c:pt>
                  <c:pt idx="75">
                    <c:v>38</c:v>
                  </c:pt>
                  <c:pt idx="76">
                    <c:v>38</c:v>
                  </c:pt>
                  <c:pt idx="77">
                    <c:v>39</c:v>
                  </c:pt>
                  <c:pt idx="78">
                    <c:v>39</c:v>
                  </c:pt>
                  <c:pt idx="79">
                    <c:v>40</c:v>
                  </c:pt>
                  <c:pt idx="80">
                    <c:v>40</c:v>
                  </c:pt>
                  <c:pt idx="81">
                    <c:v>41</c:v>
                  </c:pt>
                  <c:pt idx="82">
                    <c:v>41</c:v>
                  </c:pt>
                  <c:pt idx="83">
                    <c:v>42</c:v>
                  </c:pt>
                  <c:pt idx="84">
                    <c:v>42</c:v>
                  </c:pt>
                  <c:pt idx="85">
                    <c:v>43</c:v>
                  </c:pt>
                  <c:pt idx="86">
                    <c:v>43</c:v>
                  </c:pt>
                  <c:pt idx="87">
                    <c:v>44</c:v>
                  </c:pt>
                  <c:pt idx="88">
                    <c:v>44</c:v>
                  </c:pt>
                  <c:pt idx="89">
                    <c:v>45</c:v>
                  </c:pt>
                  <c:pt idx="90">
                    <c:v>45</c:v>
                  </c:pt>
                  <c:pt idx="91">
                    <c:v>46</c:v>
                  </c:pt>
                  <c:pt idx="92">
                    <c:v>46</c:v>
                  </c:pt>
                  <c:pt idx="93">
                    <c:v>47</c:v>
                  </c:pt>
                  <c:pt idx="94">
                    <c:v>47</c:v>
                  </c:pt>
                  <c:pt idx="95">
                    <c:v>48</c:v>
                  </c:pt>
                  <c:pt idx="96">
                    <c:v>48</c:v>
                  </c:pt>
                  <c:pt idx="97">
                    <c:v>49</c:v>
                  </c:pt>
                  <c:pt idx="98">
                    <c:v>49</c:v>
                  </c:pt>
                  <c:pt idx="99">
                    <c:v>50</c:v>
                  </c:pt>
                </c:lvl>
              </c:multiLvlStrCache>
            </c:multiLvlStrRef>
          </c:cat>
          <c:val>
            <c:numRef>
              <c:f>Sheet1!$C$2:$C$101</c:f>
              <c:numCache>
                <c:formatCode>General</c:formatCode>
                <c:ptCount val="1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1</c:v>
                </c:pt>
                <c:pt idx="17">
                  <c:v>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1</c:v>
                </c:pt>
                <c:pt idx="31">
                  <c:v>1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1</c:v>
                </c:pt>
                <c:pt idx="60">
                  <c:v>1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1</c:v>
                </c:pt>
                <c:pt idx="69">
                  <c:v>1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95959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95959"/>
                    </a:solidFill>
                    <a:latin typeface="Arial"/>
                  </a:rPr>
                  <a:t>minuto del video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Verdan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0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Verdana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95959"/>
              </a:solidFill>
              <a:latin typeface="Verdana"/>
              <a:cs typeface="Verdan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Verdana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Verdana"/>
              </a:rPr>
              <a:t>Cohorte fresca 1 (93 videos)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Acierto (hit@5), %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Verdan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FBFB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FBF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471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471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F471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Azar</c:v>
                  </c:pt>
                  <c:pt idx="1">
                    <c:v>Azar ≤ 45 s</c:v>
                  </c:pt>
                  <c:pt idx="2">
                    <c:v>Fórmula V0</c:v>
                  </c:pt>
                  <c:pt idx="3">
                    <c:v>V1 (≤ 45 s)</c:v>
                  </c:pt>
                  <c:pt idx="4">
                    <c:v>Aprendizaje R0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26.9</c:v>
                </c:pt>
                <c:pt idx="1">
                  <c:v>30.6</c:v>
                </c:pt>
                <c:pt idx="2">
                  <c:v>47.3</c:v>
                </c:pt>
                <c:pt idx="3">
                  <c:v>54.8</c:v>
                </c:pt>
                <c:pt idx="4">
                  <c:v>62.4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Verdan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Verdan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95959"/>
                </a:solidFill>
                <a:latin typeface="Verdan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del avance. Mismo formato que la exposición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problema: hoy el recorte lo hace una persona. Las herramientas comerciales no explican su criterio. Queremos un sistema abierto, medible y explicable.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YouTube publica Most Replayed: 100 tramos con su nivel de re-reproducción. Es nuestra regla para entrenar y calificar; el sistema no la ve al elegir.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Extraemos del video solo el audio, no el video completo. Cada etapa guarda su resultado en disco y se reanuda sin repetir.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pesos se fijan con 121 videos y se congelan. Luego se prueban una sola vez en videos nuevos, con la hipótesis escrita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real de src/pipeline.py. Los pasos 1 a 5 procesan todos los candidatos y son baratos. Los pasos 7 a 9 solo los elegidos.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real: video 1, 50 minutos. Cada oración genera ventanas de ~20, ~40 y ~60 s; se puntúan todas y se queda con las mejores sin solapar.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pesos salen de la correlación parcial de Spearman con el calor real, controlando la posición. Pausas, silencio y variación de tono pesan más: los picos se parecen a fronteras de segmento.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se compara contra el azar y se prueba en videos que el modelo no vio. La curva solo califica.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Cohorte fresca 1, 93 videos, una sola corrida con pesos congelados. V0 es la fórmula; V1 agrega el límite de 45 s; R0 es un modelo de aprendizaje con percentiles.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paso se escribió como hipótesis, se probó en videos no vistos y se registró. Lo que no mejoró también quedó documentado.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de los mejores casos de 548. Lo típico es 56 % con al menos un acierto. Sirven para mostrar cómo se explica cada clip.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Calor real de YouTube y los 5 clips elegidos solo con contenido. 4 de 5 caen sobre un pico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Calor real de YouTube y los 5 clips elegidos solo con contenido. 3 de 5 caen sobre un pico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Calor real de YouTube y los 5 clips elegidos solo con contenido. 3 de 5 caen sobre un pico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techo con solo contenido está en 50–69 %. Para pasar de ahí haría falta información que no está en el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image" Target="../media/image-13-3.jpg"/><Relationship Id="rId4" Type="http://schemas.openxmlformats.org/officeDocument/2006/relationships/image" Target="../media/image-13-4.jpg"/><Relationship Id="rId5" Type="http://schemas.openxmlformats.org/officeDocument/2006/relationships/image" Target="../media/image-13-5.jpg"/><Relationship Id="rId6" Type="http://schemas.openxmlformats.org/officeDocument/2006/relationships/image" Target="../media/image-13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image" Target="../media/image-14-4.jpg"/><Relationship Id="rId5" Type="http://schemas.openxmlformats.org/officeDocument/2006/relationships/image" Target="../media/image-14-5.jpg"/><Relationship Id="rId6" Type="http://schemas.openxmlformats.org/officeDocument/2006/relationships/image" Target="../media/image-1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image" Target="../media/image-15-4.jpg"/><Relationship Id="rId5" Type="http://schemas.openxmlformats.org/officeDocument/2006/relationships/image" Target="../media/image-15-5.jpg"/><Relationship Id="rId6" Type="http://schemas.openxmlformats.org/officeDocument/2006/relationships/image" Target="../media/image-15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SEMINARIO DE INVESTIGACIÓN I · 2026-2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754880" y="274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FACULTAD DE INGENIERÍA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CARRERA DE INGENIERÍA DE SISTEMAS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0584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Deep Learning Approach for Automated Highlight Detection and Virality Scoring in Short-Form Video Clip Generation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Avance: problema, pipeline de datos y del sistema, y resultados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404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Alumno: Núñez del Prado Vega, José Francisco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06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Asesor: Angela Gabriela Maywa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56032"/>
            <a:ext cx="274320" cy="274320"/>
          </a:xfrm>
          <a:prstGeom prst="star5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 · PROBLEMA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Elegir bien los momentos de un video largo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731520" cy="36576"/>
          </a:xfrm>
          <a:prstGeom prst="rect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Seminario de Investigación I · 2026-2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417320"/>
            <a:ext cx="8138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Recortar clips para Shorts, Reels o TikTok desde grabaciones largas es manual: lento y subjetivo.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Opus Clip, Vizard y Klap automatizan parte del flujo, pero no publican con qué criterio puntúan un segmento.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 hay una forma abierta y verificable de saber qué momento de un podcast retiene más audiencia.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520440"/>
            <a:ext cx="8138160" cy="100584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566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Pregunta de investigación: </a:t>
            </a:r>
            <a:pPr indent="0" marL="0">
              <a:buNone/>
            </a:pPr>
            <a:r>
              <a:rPr lang="en-US" sz="1400" b="1" i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¿se puede predecir, solo con el contenido del video (audio y texto), qué momentos retendrán más audiencia, y con qué fórmula?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56032"/>
            <a:ext cx="274320" cy="274320"/>
          </a:xfrm>
          <a:prstGeom prst="star5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 · PROBLEMA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regla de medida: lo que la gente vuelve a ver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731520" cy="36576"/>
          </a:xfrm>
          <a:prstGeom prst="rect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Seminario de Investigación I · 2026-2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1325880"/>
          <a:ext cx="56692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6217920" y="141732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327648" y="149047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Qué 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327648" y="1801368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YouTube publica 100 tramos por video con cuánto se volvió a ver cada uno (0 a 1).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288036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FF471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327648" y="295351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Cómo se usa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327648" y="3264408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Entrena y califica. El sistema nunca la ve al elegir: decide solo con audio y texto.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56032"/>
            <a:ext cx="274320" cy="274320"/>
          </a:xfrm>
          <a:prstGeom prst="star5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· PIPELINE DE DATOS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 la búsqueda al dataset: 6 pasos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731520" cy="36576"/>
          </a:xfrm>
          <a:prstGeom prst="rect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Seminario de Investigación I · 2026-2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144475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 · Buscar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1755648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50 consultas ES y EN. Solo videos con curva; máx. 2 por canal. Manifest CSV.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97180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200400" y="13716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10128" y="144475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· Curva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310128" y="1755648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yt-dlp baja el heatmap: 100 tramos, un JSON por video.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715000" y="1691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943600" y="13716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53328" y="144475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· Audio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053328" y="1755648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descarga el audio (WAV), no el video: 66 GB para ~765 videos.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7432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FE9E2"/>
          </a:solidFill>
          <a:ln w="9525">
            <a:solidFill>
              <a:srgbClr val="FFE9E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6928" y="281635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 · Transcribir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3127248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Whisper local en GPU: cada palabra con su inicio y fin.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2971800" y="30632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3200400" y="27432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FE9E2"/>
          </a:solidFill>
          <a:ln w="9525">
            <a:solidFill>
              <a:srgbClr val="FFE9E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310128" y="281635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· Variables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3310128" y="3127248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68 variables por ventana: audio, texto y eventos de sonido.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715000" y="30632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943600" y="27432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FE9E2"/>
          </a:solidFill>
          <a:ln w="9525">
            <a:solidFill>
              <a:srgbClr val="FFE9E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053328" y="281635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 · Etiquetar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053328" y="3127248"/>
            <a:ext cx="2295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Calor real de cada ventana: grado 0–4 y «momento caliente».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42062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≈ 770 videos con curva y audio · 765 transcripciones · 678 con variables calculadas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56032"/>
            <a:ext cx="274320" cy="274320"/>
          </a:xfrm>
          <a:prstGeom prst="star5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· PIPELINE DE DATOS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Datos y protocolo: no se mide con lo que se entrenó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731520" cy="36576"/>
          </a:xfrm>
          <a:prstGeom prst="rect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Seminario de Investigación I · 2026-2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41732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5087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121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240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videos de desarrollo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26517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Aquí se descubren y fijan los pesos de la fórmula.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141732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15087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352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2240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videos de confirmación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3337560" y="26517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Nunca vistos al ajustar. Prueba única con pesos congelados.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943600" y="1417320"/>
            <a:ext cx="2514600" cy="2331720"/>
          </a:xfrm>
          <a:prstGeom prst="roundRect">
            <a:avLst>
              <a:gd name="adj" fmla="val 313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35040" y="15087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93 + 63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6035040" y="22402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cohortes frescas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080760" y="26517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Géneros y consultas nuevas; una sola corrida, hipótesis previa.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931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Validación agrupada por canal: ningún canal aparece a la vez en entrenamiento y en prueba. La posición en el video no entra al modelo.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56032"/>
            <a:ext cx="274320" cy="274320"/>
          </a:xfrm>
          <a:prstGeom prst="star5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· PIPELINE DEL SISTEMA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 un video a 5 clips: 9 pasos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731520" cy="36576"/>
          </a:xfrm>
          <a:prstGeom prst="rect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Seminario de Investigación I · 2026-2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144475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 · Audio + texto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1755648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Whisper local: cada palabra con su tiempo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3716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10128" y="144475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· Oraciones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310128" y="1755648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agrupan; corta en pausas &gt; 0.9 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0" y="13716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53328" y="144475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· Candidatos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53328" y="1755648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Muchas ventanas solapadas de 15 a 90 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4231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6928" y="249631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 · Variables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" y="2807208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68 variables por candidato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0" y="24231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310128" y="249631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· Puntaje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3310128" y="2807208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Fórmula de 17 pesos; score de 0 a 99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43600" y="24231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FE9E2"/>
          </a:solidFill>
          <a:ln w="9525">
            <a:solidFill>
              <a:srgbClr val="FFE9E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053328" y="249631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 · Elegir 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053328" y="2807208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 solapar más de 30 %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347472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FE9E2"/>
          </a:solidFill>
          <a:ln w="9525">
            <a:solidFill>
              <a:srgbClr val="FFE9E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66928" y="354787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 · Ajustes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858768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Corte de escena y margen de 0.15 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200400" y="347472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FE9E2"/>
          </a:solidFill>
          <a:ln w="9525">
            <a:solidFill>
              <a:srgbClr val="FFE9E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310128" y="354787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 · Recorte 9:16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310128" y="3858768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Reencuadre al hablante + subtítulos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943600" y="347472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FE9E2"/>
          </a:solidFill>
          <a:ln w="9525">
            <a:solidFill>
              <a:srgbClr val="FFE9E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053328" y="354787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 · Explicación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053328" y="3858768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Aporte de cada variable a Hook, Flow y Value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45262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Gris: se aplica a todos los candidatos · Naranja: solo a los elegidos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56032"/>
            <a:ext cx="274320" cy="274320"/>
          </a:xfrm>
          <a:prstGeom prst="star5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· PIPELINE DEL SISTEMA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Muchos candidatos, pocos clips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731520" cy="36576"/>
          </a:xfrm>
          <a:prstGeom prst="rect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Seminario de Investigación I · 2026-2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417320"/>
            <a:ext cx="4718304" cy="640080"/>
          </a:xfrm>
          <a:prstGeom prst="roundRect">
            <a:avLst>
              <a:gd name="adj" fmla="val 8571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4173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239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1417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oraciones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312664" y="1417320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Palabras agrupadas por puntuación y pausas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194560"/>
            <a:ext cx="3950208" cy="640080"/>
          </a:xfrm>
          <a:prstGeom prst="roundRect">
            <a:avLst>
              <a:gd name="adj" fmla="val 8571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1945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708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2194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candidatos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44568" y="2194560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Ventanas de 15 a 90 s que empiezan y terminan en una oración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971800"/>
            <a:ext cx="3182112" cy="640080"/>
          </a:xfrm>
          <a:prstGeom prst="roundRect">
            <a:avLst>
              <a:gd name="adj" fmla="val 8571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29718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345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2971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elegibles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776472" y="2971800"/>
            <a:ext cx="4818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≤ 45 s y autocontenidos: no empiezan colgados, terminan en frase completa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749040"/>
            <a:ext cx="2414016" cy="640080"/>
          </a:xfrm>
          <a:prstGeom prst="roundRect">
            <a:avLst>
              <a:gd name="adj" fmla="val 8571"/>
            </a:avLst>
          </a:prstGeom>
          <a:solidFill>
            <a:srgbClr val="FF4713"/>
          </a:solidFill>
          <a:ln w="9525">
            <a:solidFill>
              <a:srgbClr val="FF471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7490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1600200" y="3749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clips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008376" y="3749040"/>
            <a:ext cx="5586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Los mejores puntajes sin solapar más de 30 %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56032"/>
            <a:ext cx="274320" cy="274320"/>
          </a:xfrm>
          <a:prstGeom prst="star5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 · LA FÓRMULA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Puntaje = suma de 17 variables ponderadas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731520" cy="36576"/>
          </a:xfrm>
          <a:prstGeom prst="rect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Seminario de Investigación I · 2026-2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puntaje(ventana) = Σ  peso</a:t>
            </a:r>
            <a:pPr indent="0" marL="0">
              <a:buNone/>
            </a:pPr>
            <a:r>
              <a:rPr lang="en-US" sz="1400" b="1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× percentil</a:t>
            </a:r>
            <a:pPr indent="0" marL="0">
              <a:buNone/>
            </a:pPr>
            <a:r>
              <a:rPr lang="en-US" sz="1400" b="1" baseline="-400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(ventana dentro del video)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138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914400"/>
                <a:gridCol w="4572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Variable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7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Peso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7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Qué mide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71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a_pause_ratio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+0.18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Tiempo en pausas de más de 0.3 s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l_silence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+0.16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Silencio dentro de la ventana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a_long_pauses_pm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+0.15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Pausas de más de 1 s por minuto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a_rms_std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+0.12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Variación del volumen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a_pitch_range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+0.11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Rango de tono de la voz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a_voiced_ratio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−0.11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Fracción de habla continua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k_keybert_sim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+0.10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Parecido al tema central del video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45720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Son 17 en total; se muestran las 7 de mayor peso.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56032"/>
            <a:ext cx="274320" cy="274320"/>
          </a:xfrm>
          <a:prstGeom prst="star5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·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Cómo se mide el acierto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731520" cy="36576"/>
          </a:xfrm>
          <a:prstGeom prst="rect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Seminario de Investigación I · 2026-2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4173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6928" y="149047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Acierto (hit@5)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1801368"/>
            <a:ext cx="2295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 menos 1 de los 5 clips toca un pico real de retención. Es lo que importa a quien revisa 5 propuestas.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4173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310128" y="149047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F1 temporal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310128" y="1801368"/>
            <a:ext cx="2295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Cuánto del tiempo caliente real cubren los 5 clips, y qué parte de los clips es caliente.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943600" y="141732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53328" y="1490472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Azar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053328" y="1801368"/>
            <a:ext cx="2295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Elegir 5 clips al azar toca un pico en 27–32 % de los videos. Es la línea base.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9319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curva de YouTube se usa solo después de elegir, para calificar. El sistema decide únicamente con audio y texto.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56032"/>
            <a:ext cx="274320" cy="274320"/>
          </a:xfrm>
          <a:prstGeom prst="star5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·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 azar a 62 %: acierto en videos nuevos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731520" cy="36576"/>
          </a:xfrm>
          <a:prstGeom prst="rect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Seminario de Investigación I · 2026-2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" y="1325880"/>
          <a:ext cx="53949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5943600" y="13716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053328" y="144475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Cohorte 2 (63)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053328" y="175564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Azar 30 % · aprendizaje R0 49 %. Más difícil; misma dirección.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943600" y="256032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053328" y="263347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548 videos juntos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6053328" y="294436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V1 acierta ≥ 1 de 5 en 56 % (azar ~30 %).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43600" y="37490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FF4713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053328" y="3822192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 la curva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053328" y="413308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Techo 85–95 %; no existe en un video no subido.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56032"/>
            <a:ext cx="274320" cy="274320"/>
          </a:xfrm>
          <a:prstGeom prst="star5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·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Cómo pasamos de azar a más de 60 %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731520" cy="36576"/>
          </a:xfrm>
          <a:prstGeom prst="rect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Seminario de Investigación I · 2026-2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663440"/>
                <a:gridCol w="13716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Paso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7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Qué cambió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7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Acierto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71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 · Azar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 clips al azar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27–32 %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 · Fórmula V0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Pausas, silencio y tono: 17 pesos fijados con 121 videos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47 %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 · V1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Solo clips de hasta 45 s: tocan más picos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55 %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 · Aprendizaje R0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LightGBM con percentiles dentro del video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62 %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7200" y="32004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Probado y sin mejora confirmada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5204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Deep learning de secuencia · juez LLM · señal visual · embeddings de texto · léxico · género · ensamble E3 (no se confirmó en la cohorte 2).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56032"/>
            <a:ext cx="274320" cy="274320"/>
          </a:xfrm>
          <a:prstGeom prst="star5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·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Tres videos de ejemplo, validados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731520" cy="36576"/>
          </a:xfrm>
          <a:prstGeom prst="rect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Seminario de Investigación I · 2026-2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18872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Video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7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Idioma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71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Clips sobre un pico real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71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El caso Marina y Laura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 de 5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Dr. Anita Philips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EN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 de 5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Men's Round Table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EN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 de 5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3063240"/>
            <a:ext cx="8138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FF4713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66928" y="3136392"/>
            <a:ext cx="7918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Cómo leerlo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66928" y="3447288"/>
            <a:ext cx="7918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Elegidos entre los mejores casos: solo ~1 % de los videos llega a 4 de 5. El promedio real es 1 acierto o más en 56 % de los videos. Cada clip se explica con el aporte de sus 17 variables.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56032"/>
            <a:ext cx="274320" cy="274320"/>
          </a:xfrm>
          <a:prstGeom prst="star5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·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Ejemplo: El caso Marina y Laura (ES)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731520" cy="36576"/>
          </a:xfrm>
          <a:prstGeom prst="rect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Seminario de Investigación I · 2026-2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  <p:pic>
        <p:nvPicPr>
          <p:cNvPr id="9" name="Mapa de calor v1" descr="img/v1_h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138160" cy="1737360"/>
          </a:xfrm>
          <a:prstGeom prst="rect">
            <a:avLst/>
          </a:prstGeom>
        </p:spPr>
      </p:pic>
      <p:pic>
        <p:nvPicPr>
          <p:cNvPr id="10" name="Clip 1 v1" descr="img/v1_clip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3108960"/>
            <a:ext cx="868680" cy="1371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99032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#1 · min 4:27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score 93 · sobre pico</a:t>
            </a:r>
            <a:endParaRPr lang="en-US" sz="900" dirty="0"/>
          </a:p>
        </p:txBody>
      </p:sp>
      <p:pic>
        <p:nvPicPr>
          <p:cNvPr id="12" name="Clip 2 v1" descr="img/v1_clip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103120" y="3108960"/>
            <a:ext cx="868680" cy="1371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044952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#2 · min 34:44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score 89 · sobre pico</a:t>
            </a:r>
            <a:endParaRPr lang="en-US" sz="900" dirty="0"/>
          </a:p>
        </p:txBody>
      </p:sp>
      <p:pic>
        <p:nvPicPr>
          <p:cNvPr id="14" name="Clip 3 v1" descr="img/v1_clip3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749040" y="3108960"/>
            <a:ext cx="868680" cy="1371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690872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#3 · min 8:29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score 88 · sobre pico</a:t>
            </a:r>
            <a:endParaRPr lang="en-US" sz="900" dirty="0"/>
          </a:p>
        </p:txBody>
      </p:sp>
      <p:pic>
        <p:nvPicPr>
          <p:cNvPr id="16" name="Clip 4 v1" descr="img/v1_clip4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394960" y="3108960"/>
            <a:ext cx="868680" cy="1371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336792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#4 · min 30:04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score 83 · sobre pico</a:t>
            </a:r>
            <a:endParaRPr lang="en-US" sz="900" dirty="0"/>
          </a:p>
        </p:txBody>
      </p:sp>
      <p:pic>
        <p:nvPicPr>
          <p:cNvPr id="18" name="Clip 5 v1" descr="img/v1_clip5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040880" y="3108960"/>
            <a:ext cx="868680" cy="137160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7982712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#5 · min 15:33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score 81 · fuera</a:t>
            </a:r>
            <a:endParaRPr lang="en-US" sz="900" dirty="0"/>
          </a:p>
        </p:txBody>
      </p:sp>
      <p:sp>
        <p:nvSpPr>
          <p:cNvPr id="20" name="Text 11"/>
          <p:cNvSpPr txBox="1"/>
          <p:nvPr/>
        </p:nvSpPr>
        <p:spPr>
          <a:xfrm>
            <a:off x="493776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 de 5 clips sobre un pico real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56032"/>
            <a:ext cx="274320" cy="274320"/>
          </a:xfrm>
          <a:prstGeom prst="star5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·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Ejemplo: Dr. Anita Philips (EN)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731520" cy="36576"/>
          </a:xfrm>
          <a:prstGeom prst="rect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Seminario de Investigación I · 2026-2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  <p:pic>
        <p:nvPicPr>
          <p:cNvPr id="9" name="Mapa de calor v2" descr="img/v2_h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138160" cy="1737360"/>
          </a:xfrm>
          <a:prstGeom prst="rect">
            <a:avLst/>
          </a:prstGeom>
        </p:spPr>
      </p:pic>
      <p:pic>
        <p:nvPicPr>
          <p:cNvPr id="10" name="Clip 1 v2" descr="img/v2_clip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3108960"/>
            <a:ext cx="868680" cy="1371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99032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#1 · min 48:39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score 98 · sobre pico</a:t>
            </a:r>
            <a:endParaRPr lang="en-US" sz="900" dirty="0"/>
          </a:p>
        </p:txBody>
      </p:sp>
      <p:pic>
        <p:nvPicPr>
          <p:cNvPr id="12" name="Clip 2 v2" descr="img/v2_clip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103120" y="3108960"/>
            <a:ext cx="868680" cy="1371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044952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#2 · min 46:44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score 96 · fuera</a:t>
            </a:r>
            <a:endParaRPr lang="en-US" sz="900" dirty="0"/>
          </a:p>
        </p:txBody>
      </p:sp>
      <p:pic>
        <p:nvPicPr>
          <p:cNvPr id="14" name="Clip 3 v2" descr="img/v2_clip3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749040" y="3108960"/>
            <a:ext cx="868680" cy="1371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690872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#3 · min 62:16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score 96 · sobre pico</a:t>
            </a:r>
            <a:endParaRPr lang="en-US" sz="900" dirty="0"/>
          </a:p>
        </p:txBody>
      </p:sp>
      <p:pic>
        <p:nvPicPr>
          <p:cNvPr id="16" name="Clip 4 v2" descr="img/v2_clip4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394960" y="3108960"/>
            <a:ext cx="868680" cy="1371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336792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#4 · min 65:13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score 93 · sobre pico</a:t>
            </a:r>
            <a:endParaRPr lang="en-US" sz="900" dirty="0"/>
          </a:p>
        </p:txBody>
      </p:sp>
      <p:pic>
        <p:nvPicPr>
          <p:cNvPr id="18" name="Clip 5 v2" descr="img/v2_clip5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040880" y="3108960"/>
            <a:ext cx="868680" cy="137160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7982712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#5 · min 70:31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score 92 · fuera</a:t>
            </a:r>
            <a:endParaRPr lang="en-US" sz="900" dirty="0"/>
          </a:p>
        </p:txBody>
      </p:sp>
      <p:sp>
        <p:nvSpPr>
          <p:cNvPr id="20" name="Text 11"/>
          <p:cNvSpPr txBox="1"/>
          <p:nvPr/>
        </p:nvSpPr>
        <p:spPr>
          <a:xfrm>
            <a:off x="493776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de 5 clips sobre un pico real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56032"/>
            <a:ext cx="274320" cy="274320"/>
          </a:xfrm>
          <a:prstGeom prst="star5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· RESULTADOS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Ejemplo: Men's Round Table (EN)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731520" cy="36576"/>
          </a:xfrm>
          <a:prstGeom prst="rect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Seminario de Investigación I · 2026-2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  <p:pic>
        <p:nvPicPr>
          <p:cNvPr id="9" name="Mapa de calor v3" descr="img/v3_h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138160" cy="1737360"/>
          </a:xfrm>
          <a:prstGeom prst="rect">
            <a:avLst/>
          </a:prstGeom>
        </p:spPr>
      </p:pic>
      <p:pic>
        <p:nvPicPr>
          <p:cNvPr id="10" name="Clip 1 v3" descr="img/v3_clip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" y="3108960"/>
            <a:ext cx="868680" cy="1371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99032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#1 · min 16:11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score 85 · sobre pico</a:t>
            </a:r>
            <a:endParaRPr lang="en-US" sz="900" dirty="0"/>
          </a:p>
        </p:txBody>
      </p:sp>
      <p:pic>
        <p:nvPicPr>
          <p:cNvPr id="12" name="Clip 2 v3" descr="img/v3_clip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103120" y="3108960"/>
            <a:ext cx="868680" cy="13716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044952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#2 · min 7:19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score 65 · sobre pico</a:t>
            </a:r>
            <a:endParaRPr lang="en-US" sz="900" dirty="0"/>
          </a:p>
        </p:txBody>
      </p:sp>
      <p:pic>
        <p:nvPicPr>
          <p:cNvPr id="14" name="Clip 3 v3" descr="img/v3_clip3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749040" y="3108960"/>
            <a:ext cx="868680" cy="1371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4690872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#3 · min 21:08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score 56 · fuera</a:t>
            </a:r>
            <a:endParaRPr lang="en-US" sz="900" dirty="0"/>
          </a:p>
        </p:txBody>
      </p:sp>
      <p:pic>
        <p:nvPicPr>
          <p:cNvPr id="16" name="Clip 4 v3" descr="img/v3_clip4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394960" y="3108960"/>
            <a:ext cx="868680" cy="1371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6336792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#4 · min 9:19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score 37 · sobre pico</a:t>
            </a:r>
            <a:endParaRPr lang="en-US" sz="900" dirty="0"/>
          </a:p>
        </p:txBody>
      </p:sp>
      <p:pic>
        <p:nvPicPr>
          <p:cNvPr id="18" name="Clip 5 v3" descr="img/v3_clip5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040880" y="3108960"/>
            <a:ext cx="868680" cy="1371600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7982712" y="310896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#5 · min 20:30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score 34 · fuera</a:t>
            </a:r>
            <a:endParaRPr lang="en-US" sz="900" dirty="0"/>
          </a:p>
        </p:txBody>
      </p:sp>
      <p:sp>
        <p:nvSpPr>
          <p:cNvPr id="20" name="Text 11"/>
          <p:cNvSpPr txBox="1"/>
          <p:nvPr/>
        </p:nvSpPr>
        <p:spPr>
          <a:xfrm>
            <a:off x="4937760" y="1051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 de 5 clips sobre un pico real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56032"/>
            <a:ext cx="274320" cy="274320"/>
          </a:xfrm>
          <a:prstGeom prst="star5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 · ALCANCE Y SIGUIENTES PASOS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Qué se logró y qué falta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731520" cy="36576"/>
          </a:xfrm>
          <a:prstGeom prst="rect">
            <a:avLst/>
          </a:prstGeom>
          <a:solidFill>
            <a:srgbClr val="FF4713"/>
          </a:solidFill>
          <a:ln w="12700">
            <a:solidFill>
              <a:srgbClr val="FF471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Seminario de Investigación I · 2026-2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41732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2F2F2"/>
          </a:solidFill>
          <a:ln w="9525">
            <a:solidFill>
              <a:srgbClr val="F2F2F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logrado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9659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Pipeline completo de video a clips 9:16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Fórmula abierta de 17 variables, explicable por clip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62 % de acierto en videos nuevos frente a 27–32 % del azar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Pesos congelados y videos no vistos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141732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FF471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713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que falta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9659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Techo de contenido: 50–69 %. Con la curva real, 85–95 %, que un video nuevo no tiene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+200 videos para entrenar y repetir la confirmación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Probar R0 + 17 variables con hipótesis previa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Generador de clips con puntaje de retención: problema, pipeline y resultados</dc:title>
  <dc:subject>PptxGenJS Presentation</dc:subject>
  <dc:creator>José Francisco Núñez del Prado Vega</dc:creator>
  <cp:lastModifiedBy>José Francisco Núñez del Prado Vega</cp:lastModifiedBy>
  <cp:revision>1</cp:revision>
  <dcterms:created xsi:type="dcterms:W3CDTF">2026-10-12T22:12:36Z</dcterms:created>
  <dcterms:modified xsi:type="dcterms:W3CDTF">2026-10-12T22:12:36Z</dcterms:modified>
</cp:coreProperties>
</file>